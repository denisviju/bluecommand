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BE099-D16A-470B-ACD5-818DD9ABD45E}" v="36" dt="2026-05-04T11:58:37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73927-C834-4F4B-B5D6-C0AE947AF36C}" type="datetimeFigureOut">
              <a:t>04.05.2026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8FA58-5896-4CD2-9D78-98843841727E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7931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62250"/>
          </a:solidFill>
          <a:ln w="12700">
            <a:solidFill>
              <a:srgbClr val="1622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62250"/>
          </a:solidFill>
          <a:ln w="12700">
            <a:solidFill>
              <a:srgbClr val="1622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463040"/>
            <a:ext cx="54864" cy="2468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28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08760" y="25603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BlueCommand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Management al Activităților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Inspectoratului de Poliție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Roluri: </a:t>
            </a: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 •  Șef Inspectorat  •  Agent Poliție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 |  ASP.NET Core 8  |  PostgreSQL  |  Docker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Prezentare Funcționalități Implementate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&amp; Roluri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840480" cy="530352"/>
          </a:xfrm>
          <a:prstGeom prst="rect">
            <a:avLst/>
          </a:prstGeom>
          <a:solidFill>
            <a:srgbClr val="2D5498">
              <a:alpha val="90000"/>
            </a:srgbClr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Frontend (React + Vite + Tailwind)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20240" y="14721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</a:rPr>
              <a:t>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3840480" cy="530352"/>
          </a:xfrm>
          <a:prstGeom prst="rect">
            <a:avLst/>
          </a:prstGeom>
          <a:solidFill>
            <a:srgbClr val="1A7ABF">
              <a:alpha val="90000"/>
            </a:srgbClr>
          </a:solidFill>
          <a:ln w="12700">
            <a:solidFill>
              <a:srgbClr val="1A7A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1848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REST API (ASP.NET Core 8 / JWT)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2130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3840480" cy="530352"/>
          </a:xfrm>
          <a:prstGeom prst="rect">
            <a:avLst/>
          </a:prstGeom>
          <a:solidFill>
            <a:srgbClr val="1A9E6E">
              <a:alpha val="90000"/>
            </a:srgbClr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7685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Application &amp; Domain (Clean Architecture)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2788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3840480" cy="530352"/>
          </a:xfrm>
          <a:prstGeom prst="rect">
            <a:avLst/>
          </a:prstGeom>
          <a:solidFill>
            <a:srgbClr val="6B4AAD">
              <a:alpha val="90000"/>
            </a:srgbClr>
          </a:solidFill>
          <a:ln w="12700">
            <a:solidFill>
              <a:srgbClr val="6B4A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352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Infrastructure (EF Core + PostgreSQL)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Roluri implementate: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54864" cy="8046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4264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Administrator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28032" y="17739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Gestionează utilizatorii, vizualizează audit log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31720"/>
            <a:ext cx="54864" cy="804672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386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Șef Inspectorat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27340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Accesează toate dosarele și rapoartele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91840"/>
            <a:ext cx="54864" cy="804672"/>
          </a:xfrm>
          <a:prstGeom prst="rect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3467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Agent Poliție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28032" y="36941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Lucrează pe dosarele din secția sa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&amp; Securitate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complet al accesului bazat pe rol (RBAC) cu JWT și BCrypt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1508760"/>
            <a:ext cx="2743200" cy="12344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1618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JWT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" y="20574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utilizează autentificarea bazată pe token-uri JWT, securizate printr-o cheie secretă configurabilă. Perioada de valabilitate este ajustabilă, iar payload-ul include datele esențiale: userId, username, rol și sectieId.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508760"/>
            <a:ext cx="2743200" cy="12344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67912" y="1618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10712" y="20574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stocate exclusiv ca hash BCrypt. Nicio parolă plaintext în baza de date.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1508760"/>
            <a:ext cx="2743200" cy="12344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93992" y="16184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Politici de autorizare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36792" y="20574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Securitatea endpoint-urilor este gestionată prin trei politici distincte: TotiUtilizatorii, SefSauAdmin și AdministratorOnly. Acestea sunt aplicate granular prin atributul [Authorize].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926080"/>
            <a:ext cx="2743200" cy="12344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Schimbare parolă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3474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Orice utilizator poate schimba propria parolă după verificarea celei curente.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73552" y="2926080"/>
            <a:ext cx="2743200" cy="12344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67912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Conturi dezactivate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10712" y="3474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blocat pentru conturile cu EsteActiv = false. Agenții cu dosare active nu pot fi șterși.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99632" y="2926080"/>
            <a:ext cx="2743200" cy="12344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3992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login/logout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36792" y="3474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autentificare și deconectare este înregistrată în audit log cu IP și timestamp.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Statistici în Timp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adaptată rolului: Adminul și Șeful văd global, Agentul vede doar secția sa.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" y="1417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417320"/>
            <a:ext cx="1920240" cy="457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912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Dosare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417320"/>
            <a:ext cx="1920240" cy="4572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Dosare Deschise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98848" y="1417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98848" y="1417320"/>
            <a:ext cx="192024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98848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Dosare În Lucru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28816" y="1417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28816" y="1417320"/>
            <a:ext cx="1920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28816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Dosare Închise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26334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2633472"/>
            <a:ext cx="1920240" cy="45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38912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Agenți Activi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6334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633472"/>
            <a:ext cx="1920240" cy="457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46888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Secții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98848" y="2633472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98848" y="2633472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498848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(30 zile)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2633472"/>
            <a:ext cx="2286000" cy="1051560"/>
          </a:xfrm>
          <a:prstGeom prst="rect">
            <a:avLst/>
          </a:prstGeom>
          <a:solidFill>
            <a:srgbClr val="EAF2FF"/>
          </a:solidFill>
          <a:ln w="12700">
            <a:solidFill>
              <a:srgbClr val="C0D5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6791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per rol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Admin/Șef: global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secția sa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" y="3813048"/>
            <a:ext cx="829360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metrici afișate simultan   |   ✅  Actualizare la refresh   |   ✅  Vizibilitate restricționată pe baza sectieId din token JWT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Managementul Dosarelor – CRUD &amp; Filtrare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Operațiuni suportate: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dosar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 unic, titlu, tip incident, dată, secție, agenți atribuiți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202996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câmpuri; dosarele ÎNCHISE nu pot fi editate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68833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88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34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Închidere / Redeschidere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Șef sau Admin. Generează intrare în istoric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34670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467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92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Actualizare agenți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621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Reasignare agenți pe dosar (doar Șef/Admin)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40050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050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business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279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Agenții trebuie să fie din aceeași secție. Username unic garantat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&amp; Paginare: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13533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Căutare text (număr dosar, titlu)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70078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Filtrare după 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0482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Filtrare după secție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3957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Filtrare după tip incident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2743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Interval date incident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0906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Paginare (20 / pagină)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474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Statusuri dosar: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822192"/>
            <a:ext cx="1234440" cy="36576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8221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53328" y="3822192"/>
            <a:ext cx="12344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53328" y="38221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ÎN_LUCRU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43216" y="3822192"/>
            <a:ext cx="12344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43216" y="38221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ÎNCHIS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4343400"/>
            <a:ext cx="4069080" cy="475488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3708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Agentul vede doar dosarele secției sale sau cele în care este asignat direct.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Atașate &amp; Export Dosar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securizat de fișiere, export PDF/Excel și istoric complet al modificărilor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8912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DOCUMENTE ATAȘATE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fișiere: PDF, DOC/DOCX, JPG/PNG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Limită: 10 MB per fișier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Stocare pe disk cu nume UUID unic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852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Ștergere fișier fizic la delete din DB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Middleware de autorizare pentru /uploads/*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584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 restricționat (nu Administrator)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DOSAR (PDF / Excel)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55648"/>
            <a:ext cx="4069080" cy="10058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(QuestPDF)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73168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detalii dosar, tabel agenți, documente, ultimele 50 intrări din istoric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98648"/>
            <a:ext cx="4069080" cy="1005840"/>
          </a:xfrm>
          <a:prstGeom prst="rect">
            <a:avLst/>
          </a:prstGeom>
          <a:solidFill>
            <a:srgbClr val="213A6A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(ClosedXML)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73168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'Detalii Dosar' + sheet 'Istoric' cu toate câmpurile modificate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13632"/>
            <a:ext cx="8293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ISTORIC MODIFICĂRI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251960"/>
            <a:ext cx="8293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modificare a câmpurilor (titlu, status, tip incident, dată, secție, agenți) generează o înregistrare IstoricDosar cu valoarea veche, valoarea nouă, utilizatorul și timestamp-ul modificării.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Managementul Agenților &amp; Secțiilor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8912" y="960120"/>
            <a:ext cx="3977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960120"/>
            <a:ext cx="3977640" cy="4572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Gestionare Agenți Poliție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Creare agent: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19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unic, parolă, grad militar, secție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Editare date: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Nume, prenume, grad, transfer de secție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423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Dezactivare: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– blocat dacă are dosare active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880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Filtrare: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nume, username, secție, grad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Istoric agenți: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547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Modificările sunt urmărite în IstoricUtilizator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Dosare active: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dosare deschise ale agentului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069080" cy="45720"/>
          </a:xfrm>
          <a:prstGeom prst="rect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Gestionare Secții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 complet pentru secții (Creare / Editare / Detalii)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Istoricul secției urmărit în IstoricSectie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Restricționat la Șef Inspectorat și Administrator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80360"/>
            <a:ext cx="4069080" cy="45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944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Gestionare Utilizatori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73168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Creare / Editare utilizatori (doar Admin)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685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Reset parolă de către Administrator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3168" y="4005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Vizualizare detalii și rol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4325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Activare / Dezactivare conturi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" y="4407408"/>
            <a:ext cx="8293608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B8D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256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Toate intrările sunt validate cu FluentValidation înainte de procesare (username unic, câmpuri obligatorii, grad, secție validă)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Rapoarte – Analize &amp; Export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 exclusiv pentru Șef Inspectorat și Administrator. Filtrare pe perioadă și opțional pe secție.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371600"/>
            <a:ext cx="54864" cy="118872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99616"/>
            <a:ext cx="384048" cy="384048"/>
          </a:xfrm>
          <a:prstGeom prst="ellipse">
            <a:avLst/>
          </a:prstGeom>
          <a:solidFill>
            <a:srgbClr val="2D5498">
              <a:alpha val="15000"/>
            </a:srgbClr>
          </a:solidFill>
          <a:ln w="12700">
            <a:solidFill>
              <a:srgbClr val="2D549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4712" y="1499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Grupare lunară a dosarelor după data incidentului. Vizualizare evoluție număr cazuri pe luni.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137160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371600"/>
            <a:ext cx="54864" cy="1188720"/>
          </a:xfrm>
          <a:prstGeom prst="rect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499616"/>
            <a:ext cx="384048" cy="384048"/>
          </a:xfrm>
          <a:prstGeom prst="ellipse">
            <a:avLst/>
          </a:prstGeom>
          <a:solidFill>
            <a:srgbClr val="1A9E6E">
              <a:alpha val="15000"/>
            </a:srgbClr>
          </a:solidFill>
          <a:ln w="12700">
            <a:solidFill>
              <a:srgbClr val="1A9E6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76672" y="1499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STATISTICI_SECTII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96596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secție: total dosare, deschise, în lucru, închise. Comparație performanță între secții.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274320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2743200"/>
            <a:ext cx="54864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871216"/>
            <a:ext cx="384048" cy="384048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871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TIP_INCIDENT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33756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Distribuție dosare după tipul incidentului. Clasament descrescător al frecvenței tipurilor.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2743200"/>
            <a:ext cx="3977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743200"/>
            <a:ext cx="54864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871216"/>
            <a:ext cx="384048" cy="384048"/>
          </a:xfrm>
          <a:prstGeom prst="ellipse">
            <a:avLst/>
          </a:prstGeom>
          <a:solidFill>
            <a:srgbClr val="8E44AD">
              <a:alpha val="15000"/>
            </a:srgbClr>
          </a:solidFill>
          <a:ln w="12700">
            <a:solidFill>
              <a:srgbClr val="8E44AD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2871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ACTIVITATE_AGENTI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33756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agent: total dosare alocate, active și închise. Clasament după numărul total de dosare.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4315968"/>
            <a:ext cx="8293608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616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disponibil în: PDF (QuestPDF) și Excel (ClosedXML)   |   📊  Rapoartele generate sunt salvate în istoric cu filtrul de perioadă aplicat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de Audit – Trasabilitate Completă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acțiune semnificativă din sistem este înregistrată automat cu context complet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8912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Acțiuni auditate: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737360"/>
            <a:ext cx="54864" cy="38404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/ LOGOUT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90872" y="173736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1737360"/>
            <a:ext cx="54864" cy="384048"/>
          </a:xfrm>
          <a:prstGeom prst="rect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CREATE_DOSAR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24028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240280"/>
            <a:ext cx="54864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240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UPDATE_DOSAR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224028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0872" y="2240280"/>
            <a:ext cx="54864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240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INCHIDE_DOSAR / REDESCHIDE_DOSAR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274320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743200"/>
            <a:ext cx="54864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UPDATE_DOSAR_AGENTI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74320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1A7A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2743200"/>
            <a:ext cx="54864" cy="384048"/>
          </a:xfrm>
          <a:prstGeom prst="rect">
            <a:avLst/>
          </a:prstGeom>
          <a:solidFill>
            <a:srgbClr val="1A7ABF"/>
          </a:solidFill>
          <a:ln w="12700">
            <a:solidFill>
              <a:srgbClr val="1A7A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UPLOAD_DOCUMENT / DELETE_DOCUMENT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" y="324612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246120"/>
            <a:ext cx="54864" cy="384048"/>
          </a:xfrm>
          <a:prstGeom prst="rect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CREATE_AGENT / UPDATE_AGENT / DEACTIVATE_AGENT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246120"/>
            <a:ext cx="3977640" cy="384048"/>
          </a:xfrm>
          <a:prstGeom prst="rect">
            <a:avLst/>
          </a:prstGeom>
          <a:solidFill>
            <a:srgbClr val="213A6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90872" y="3246120"/>
            <a:ext cx="548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SCHIMBA_PAROLA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3840480"/>
            <a:ext cx="8293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stocate per înregistrare audit: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8912" y="4224528"/>
            <a:ext cx="1508760" cy="530352"/>
          </a:xfrm>
          <a:prstGeom prst="rect">
            <a:avLst/>
          </a:prstGeom>
          <a:solidFill>
            <a:srgbClr val="16225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UtilizatorId  →  cine a executat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84832" y="4224528"/>
            <a:ext cx="1508760" cy="530352"/>
          </a:xfrm>
          <a:prstGeom prst="rect">
            <a:avLst/>
          </a:prstGeom>
          <a:solidFill>
            <a:srgbClr val="16225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4224528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TipActiune  →  ce acțiune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30752" y="4224528"/>
            <a:ext cx="1508760" cy="530352"/>
          </a:xfrm>
          <a:prstGeom prst="rect">
            <a:avLst/>
          </a:prstGeom>
          <a:solidFill>
            <a:srgbClr val="16225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4224528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Detalii  →  context text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76672" y="4224528"/>
            <a:ext cx="1508760" cy="530352"/>
          </a:xfrm>
          <a:prstGeom prst="rect">
            <a:avLst/>
          </a:prstGeom>
          <a:solidFill>
            <a:srgbClr val="16225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4224528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AdresaIP  →  de unde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22592" y="4224528"/>
            <a:ext cx="1508760" cy="530352"/>
          </a:xfrm>
          <a:prstGeom prst="rect">
            <a:avLst/>
          </a:prstGeom>
          <a:solidFill>
            <a:srgbClr val="16225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224528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DataOra  →  când (UTC timestamp)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 &amp; Biblioteci Utilizate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2743200" cy="914400"/>
          </a:xfrm>
          <a:prstGeom prst="rect">
            <a:avLst/>
          </a:prstGeom>
          <a:solidFill>
            <a:srgbClr val="EAF9F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25296"/>
            <a:ext cx="347472" cy="347472"/>
          </a:xfrm>
          <a:prstGeom prst="ellipse">
            <a:avLst/>
          </a:prstGeom>
          <a:solidFill>
            <a:srgbClr val="61DAFB">
              <a:alpha val="80000"/>
            </a:srgbClr>
          </a:solidFill>
          <a:ln w="12700">
            <a:solidFill>
              <a:srgbClr val="61DAFB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cu tipare stricte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04872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91256" y="1115568"/>
            <a:ext cx="2743200" cy="914400"/>
          </a:xfrm>
          <a:prstGeom prst="rect">
            <a:avLst/>
          </a:prstGeom>
          <a:solidFill>
            <a:srgbClr val="F3EAF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0984" y="1225296"/>
            <a:ext cx="347472" cy="347472"/>
          </a:xfrm>
          <a:prstGeom prst="ellipse">
            <a:avLst/>
          </a:prstGeom>
          <a:solidFill>
            <a:srgbClr val="A259FF">
              <a:alpha val="80000"/>
            </a:srgbClr>
          </a:solidFill>
          <a:ln w="12700">
            <a:solidFill>
              <a:srgbClr val="A259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58184" y="1207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 CSS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58184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rapid, styling utility-first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48656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A2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35040" y="1115568"/>
            <a:ext cx="2743200" cy="914400"/>
          </a:xfrm>
          <a:prstGeom prst="rect">
            <a:avLst/>
          </a:prstGeom>
          <a:solidFill>
            <a:srgbClr val="EEF0F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1225296"/>
            <a:ext cx="347472" cy="347472"/>
          </a:xfrm>
          <a:prstGeom prst="ellipse">
            <a:avLst/>
          </a:prstGeom>
          <a:solidFill>
            <a:srgbClr val="5A67D8">
              <a:alpha val="80000"/>
            </a:srgbClr>
          </a:solidFill>
          <a:ln w="12700">
            <a:solidFill>
              <a:srgbClr val="5A67D8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1207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React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01968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+ state global auth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92440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A6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2212848"/>
            <a:ext cx="2743200" cy="914400"/>
          </a:xfrm>
          <a:prstGeom prst="rect">
            <a:avLst/>
          </a:prstGeom>
          <a:solidFill>
            <a:srgbClr val="F0EAF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22576"/>
            <a:ext cx="347472" cy="347472"/>
          </a:xfrm>
          <a:prstGeom prst="ellipse">
            <a:avLst/>
          </a:prstGeom>
          <a:solidFill>
            <a:srgbClr val="512BD4">
              <a:alpha val="80000"/>
            </a:srgbClr>
          </a:solidFill>
          <a:ln w="12700">
            <a:solidFill>
              <a:srgbClr val="512BD4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cu politici RBAC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04872" y="2304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91256" y="2212848"/>
            <a:ext cx="27432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00984" y="2322576"/>
            <a:ext cx="347472" cy="347472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58184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58184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48656" y="2304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35040" y="2212848"/>
            <a:ext cx="2743200" cy="914400"/>
          </a:xfrm>
          <a:prstGeom prst="rect">
            <a:avLst/>
          </a:prstGeom>
          <a:solidFill>
            <a:srgbClr val="E8F8E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2322576"/>
            <a:ext cx="347472" cy="347472"/>
          </a:xfrm>
          <a:prstGeom prst="ellipse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01968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01968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declarativă a request-urilor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92440" y="2304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7472" y="3310128"/>
            <a:ext cx="2743200" cy="914400"/>
          </a:xfrm>
          <a:prstGeom prst="rect">
            <a:avLst/>
          </a:prstGeom>
          <a:solidFill>
            <a:srgbClr val="EAF3F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336791">
              <a:alpha val="80000"/>
            </a:srgbClr>
          </a:solidFill>
          <a:ln w="12700">
            <a:solidFill>
              <a:srgbClr val="336791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4400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PostgreSQL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cu migrări automate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404872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191256" y="3310128"/>
            <a:ext cx="2743200" cy="914400"/>
          </a:xfrm>
          <a:prstGeom prst="rect">
            <a:avLst/>
          </a:prstGeom>
          <a:solidFill>
            <a:srgbClr val="FFECEC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00984" y="3419856"/>
            <a:ext cx="347472" cy="347472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00984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758184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QuestPDF + ClosedXML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758184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PDF și Excel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48656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35040" y="3310128"/>
            <a:ext cx="2743200" cy="914400"/>
          </a:xfrm>
          <a:prstGeom prst="rect">
            <a:avLst/>
          </a:prstGeom>
          <a:solidFill>
            <a:srgbClr val="E8F4FF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44768" y="3419856"/>
            <a:ext cx="347472" cy="347472"/>
          </a:xfrm>
          <a:prstGeom prst="ellipse">
            <a:avLst/>
          </a:prstGeom>
          <a:solidFill>
            <a:srgbClr val="2496ED">
              <a:alpha val="80000"/>
            </a:srgbClr>
          </a:solidFill>
          <a:ln w="12700">
            <a:solidFill>
              <a:srgbClr val="2496ED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4476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601968" y="3401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01968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complet containerizat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092440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Hartă Interactivă a Secțiilor – Leaflet + OpenStreetMap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326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Modulul de hartă permite vizualizarea geografică a tuturor secțiilor de poliție direct în interfață, fără dependențe externe plătite.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4572000" cy="3310128"/>
          </a:xfrm>
          <a:prstGeom prst="rect">
            <a:avLst/>
          </a:prstGeom>
          <a:solidFill>
            <a:srgbClr val="E8F4F8"/>
          </a:solidFill>
          <a:ln w="12700">
            <a:solidFill>
              <a:srgbClr val="B0C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331720"/>
            <a:ext cx="4572000" cy="0"/>
          </a:xfrm>
          <a:prstGeom prst="line">
            <a:avLst/>
          </a:prstGeom>
          <a:noFill/>
          <a:ln w="50800">
            <a:solidFill>
              <a:srgbClr val="C8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3154680"/>
            <a:ext cx="4572000" cy="0"/>
          </a:xfrm>
          <a:prstGeom prst="line">
            <a:avLst/>
          </a:prstGeom>
          <a:noFill/>
          <a:ln w="50800">
            <a:solidFill>
              <a:srgbClr val="C8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371600"/>
            <a:ext cx="0" cy="3310128"/>
          </a:xfrm>
          <a:prstGeom prst="line">
            <a:avLst/>
          </a:prstGeom>
          <a:noFill/>
          <a:ln w="50800">
            <a:solidFill>
              <a:srgbClr val="C8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371600"/>
            <a:ext cx="0" cy="3310128"/>
          </a:xfrm>
          <a:prstGeom prst="line">
            <a:avLst/>
          </a:prstGeom>
          <a:noFill/>
          <a:ln w="50800">
            <a:solidFill>
              <a:srgbClr val="C8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508760"/>
            <a:ext cx="1143000" cy="731520"/>
          </a:xfrm>
          <a:prstGeom prst="rect">
            <a:avLst/>
          </a:prstGeom>
          <a:solidFill>
            <a:srgbClr val="C8E6C9">
              <a:alpha val="8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🌳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1801368"/>
            <a:ext cx="237744" cy="237744"/>
          </a:xfrm>
          <a:prstGeom prst="ellipse">
            <a:avLst/>
          </a:prstGeom>
          <a:solidFill>
            <a:srgbClr val="2D54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6152" y="1572768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71016" y="16093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Secția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Unirii 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Centrală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18688" y="2487168"/>
            <a:ext cx="237744" cy="237744"/>
          </a:xfrm>
          <a:prstGeom prst="ellipse">
            <a:avLst/>
          </a:prstGeom>
          <a:solidFill>
            <a:srgbClr val="2D54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9928" y="3721608"/>
            <a:ext cx="237744" cy="237744"/>
          </a:xfrm>
          <a:prstGeom prst="ellipse">
            <a:avLst/>
          </a:prstGeom>
          <a:solidFill>
            <a:srgbClr val="2D54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048" y="3904488"/>
            <a:ext cx="237744" cy="237744"/>
          </a:xfrm>
          <a:prstGeom prst="ellipse">
            <a:avLst/>
          </a:prstGeom>
          <a:solidFill>
            <a:srgbClr val="2D54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OpenStreetMap contributors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257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tehnică: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1783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17830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Bibliotecă: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react-leaflet + leaflet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57800" y="2148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148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provider: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3796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(gratuit)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57800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25146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Leaflet.Icon.Default corect configurat pentru bundler Vite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5780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28803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View-uri: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Lista / Tab Hartă în SectiiPage.tsx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5780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3246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interactiv cu nume, adresă, zonă și link către detalii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5780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3611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Hartă individuală în SectieDetailPage.tsx (coordonate proprii)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3977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endpoint: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/api/sectii/harta → returnează doar secțiile cu latitudine ≠ null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57800" y="4343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4343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stocate: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3796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Entitatea Sectie include: Latitudine (double?) și Longitudine (double?)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Funcționalități Tehnice Avansate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autorizare pentru fișiere și sistem de tracking al modificărilor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8912" y="1417320"/>
            <a:ext cx="4069080" cy="3383280"/>
          </a:xfrm>
          <a:prstGeom prst="rect">
            <a:avLst/>
          </a:prstGeom>
          <a:solidFill>
            <a:srgbClr val="1C326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417320"/>
            <a:ext cx="40690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0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Middleware Autorizare Uploads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9568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Fișierele din /uploads/* nu sunt accesibile static — fiecare cerere trece printr-un middleware C# care verifică drepturile utilizatorului.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615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Verifică dacă utilizatorul este autentificat (JWT valid)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926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Extrage dosarId din calea URL (/uploads/{dosarId}/...)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3236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Interogează BD: dosarul există?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547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Verifică rolul utilizatorului: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3858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Admin / Șef → acces garantat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41696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Agent → trebuie să fie în secția dosarului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sau asignat direct pe dosar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4480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403 Forbidden dacă nicio condiție nu e îndeplinită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69080" cy="3383280"/>
          </a:xfrm>
          <a:prstGeom prst="rect">
            <a:avLst/>
          </a:prstGeom>
          <a:solidFill>
            <a:srgbClr val="1C326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4069080" cy="45720"/>
          </a:xfrm>
          <a:prstGeom prst="rect">
            <a:avLst/>
          </a:prstGeom>
          <a:solidFill>
            <a:srgbClr val="1A9E6E"/>
          </a:solidFill>
          <a:ln w="12700">
            <a:solidFill>
              <a:srgbClr val="1A9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490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ChangeTracker – Istoric Câmp cu Câmp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91456" y="1697579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utilitar generic care compară două snapshot-uri ale unei entități și generează automat înregistrări de istoric pentru fiecare câmp modificat.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131" y="2181833"/>
            <a:ext cx="3822192" cy="1450079"/>
          </a:xfrm>
          <a:prstGeom prst="rect">
            <a:avLst/>
          </a:prstGeom>
          <a:solidFill>
            <a:srgbClr val="111D38"/>
          </a:solidFill>
          <a:ln w="12700">
            <a:solidFill>
              <a:srgbClr val="2A3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190177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original = new Snapshot(dosar);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65221" y="2349395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modificări ...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5221" y="251450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updated = new Snapshot(dosar);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65221" y="26737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(field, old, new) 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65221" y="2874185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ChangeTracker.Diff(original, updated))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5221" y="307464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_db.IstoricDosare.Add(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65221" y="3292783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ToIstoricDosar(id, field, old, new, by));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3781" y="3628471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Aplică pe Dosar, Agent și Secție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781" y="387781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Câmpurile sunt comparate prin reflecție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781" y="4156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Generează IstoricDosar / IstoricUtilizator / IstoricSectie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73152" cy="566928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Routing, AuthContext &amp; Structura Aplicației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rutelor (React Router):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1325880"/>
            <a:ext cx="4023360" cy="3401568"/>
          </a:xfrm>
          <a:prstGeom prst="rect">
            <a:avLst/>
          </a:prstGeom>
          <a:solidFill>
            <a:srgbClr val="111D38"/>
          </a:solidFill>
          <a:ln w="12700">
            <a:solidFill>
              <a:srgbClr val="2A3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&lt;Routes&gt;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627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  →  LoginPage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8653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&lt;ProtectedRoute&gt;  (JWT verificat)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50976" y="2103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B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&lt;AppLayout&gt;  (sidebar + nav)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52144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→  DashboardPage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52144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/dosare  →  DosareListPage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52144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/dosare/:id  →  DosarDetailPage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52144" y="30540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/sectii  →  SectiiPage (+ Hartă)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3291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/agenti  →  AgentiPage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52144" y="3529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/rapoarte  →  RapoartePage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52144" y="3767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/audit  →  AuditPage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" y="4005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/utilizatori  →  UtilizatoriPage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4242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  →  ProfilPage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9601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– State global autentificare: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25880"/>
            <a:ext cx="54864" cy="77724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399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Persistență token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1456" y="1728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Token-ul JWT este stocat în localStorage și restaurat la refresh de pagină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40280"/>
            <a:ext cx="54864" cy="77724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state global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91456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rol, sectieId disponibile în orice componentă prin useAuth()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15468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154680"/>
            <a:ext cx="54864" cy="77724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Axios interceptor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1456" y="3557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request HTTP primește automat header-ul Authorization: Bearer &lt;token&gt;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4069080"/>
            <a:ext cx="4069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4069080"/>
            <a:ext cx="54864" cy="777240"/>
          </a:xfrm>
          <a:prstGeom prst="rect">
            <a:avLst/>
          </a:prstGeom>
          <a:solidFill>
            <a:srgbClr val="2D5498"/>
          </a:solidFill>
          <a:ln w="12700">
            <a:solidFill>
              <a:srgbClr val="2D54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4142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Logout automat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4471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răspuns 401 de la API, utilizatorul este delogat și redirecționat la /login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8912" y="4809744"/>
            <a:ext cx="8293608" cy="0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438912" y="4800600"/>
            <a:ext cx="8293608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C0D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8188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ProtectedRoute verifică token-ul din context: dacă lipsește, redirecționează imediat la /login. AppLayout afișează sidebar-ul adaptat rolului utilizatorului.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62250"/>
          </a:solidFill>
          <a:ln w="12700">
            <a:solidFill>
              <a:srgbClr val="1622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62250"/>
          </a:solidFill>
          <a:ln w="12700">
            <a:solidFill>
              <a:srgbClr val="1622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200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&amp; Sumar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1536192"/>
            <a:ext cx="4069080" cy="658368"/>
          </a:xfrm>
          <a:prstGeom prst="rect">
            <a:avLst/>
          </a:prstGeom>
          <a:solidFill>
            <a:srgbClr val="1E337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completă: JWT + BCrypt + RBAC cu 3 roluri și 3 politici de autorizare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1536192"/>
            <a:ext cx="4069080" cy="658368"/>
          </a:xfrm>
          <a:prstGeom prst="rect">
            <a:avLst/>
          </a:prstGeom>
          <a:solidFill>
            <a:srgbClr val="1E337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5361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pentru Dosare, Agenți, Secții și Utilizatori cu validare FluentValidation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313432"/>
            <a:ext cx="4069080" cy="658368"/>
          </a:xfrm>
          <a:prstGeom prst="rect">
            <a:avLst/>
          </a:prstGeom>
          <a:solidFill>
            <a:srgbClr val="1E337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134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Istoricul modificărilor urmărit la nivel de câmp pentru dosare, agenți și secții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2313432"/>
            <a:ext cx="4069080" cy="658368"/>
          </a:xfrm>
          <a:prstGeom prst="rect">
            <a:avLst/>
          </a:prstGeom>
          <a:solidFill>
            <a:srgbClr val="1E337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1343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23134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tipuri de rapoarte statistice exportabile în PDF și Excel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090672"/>
            <a:ext cx="4069080" cy="658368"/>
          </a:xfrm>
          <a:prstGeom prst="rect">
            <a:avLst/>
          </a:prstGeom>
          <a:solidFill>
            <a:srgbClr val="1E337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906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de audit complet: acțiuni, utilizator, IP, timestamp pentru toată activitatea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3090672"/>
            <a:ext cx="4069080" cy="658368"/>
          </a:xfrm>
          <a:prstGeom prst="rect">
            <a:avLst/>
          </a:prstGeom>
          <a:solidFill>
            <a:srgbClr val="1E3370"/>
          </a:solidFill>
          <a:ln w="12700">
            <a:solidFill>
              <a:srgbClr val="34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9067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0906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Clean Code (Domain/Application/Infrastructure/API) + Docker Compose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BlueCommand  •  ASP.NET Core 8 + React + PostgreSQL  •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Expunere pe ecran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5" baseType="lpstr"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BlueCommand – Prezentare Functionalitati</dc:title>
  <dc:subject>PptxGenJS Presentation</dc:subject>
  <dc:creator>PptxGenJS</dc:creator>
  <cp:lastModifiedBy>PptxGenJS</cp:lastModifiedBy>
  <cp:revision>29</cp:revision>
  <dcterms:created xsi:type="dcterms:W3CDTF">2026-05-04T11:46:40Z</dcterms:created>
  <dcterms:modified xsi:type="dcterms:W3CDTF">2026-05-04T11:59:46Z</dcterms:modified>
</cp:coreProperties>
</file>